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993" autoAdjust="0"/>
    <p:restoredTop sz="94660"/>
  </p:normalViewPr>
  <p:slideViewPr>
    <p:cSldViewPr snapToGrid="0">
      <p:cViewPr varScale="1">
        <p:scale>
          <a:sx n="153" d="100"/>
          <a:sy n="153" d="100"/>
        </p:scale>
        <p:origin x="468" y="1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5D73070-F58E-726F-D3E3-7CE25141765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5E4882C7-F030-5FD9-581C-F09474F9AF4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1ED643BD-6F0D-F7FE-B80B-C8FCF0A50D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02BD8D-F21E-421A-AEC2-5EB1CD385867}" type="datetimeFigureOut">
              <a:rPr lang="ru-RU" smtClean="0"/>
              <a:t>03.11.2025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66EE4C6A-E2C4-91FD-81B1-94C09147AC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579B8B37-D0E4-54AD-8029-6D697AB456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CF035F-D760-429C-91A6-127792A99D6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209953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70D9C15-64F5-828D-5321-AB993FD4D0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37C5FAC-6DCC-72DA-C93A-116CC08F2F4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5174B0A2-0823-FBD9-FF55-D1AE095088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02BD8D-F21E-421A-AEC2-5EB1CD385867}" type="datetimeFigureOut">
              <a:rPr lang="ru-RU" smtClean="0"/>
              <a:t>03.11.2025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FA86602D-8160-818B-4699-A955CDDFF4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A986B204-6B12-F8B3-484A-49225587E7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CF035F-D760-429C-91A6-127792A99D6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821379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04A010A-9804-D17B-6EB8-EC72146F44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BA610215-C509-8147-8624-9A013E0C087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A59EF9DE-CBC2-473F-F185-6915827F2E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02BD8D-F21E-421A-AEC2-5EB1CD385867}" type="datetimeFigureOut">
              <a:rPr lang="ru-RU" smtClean="0"/>
              <a:t>03.11.2025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6BE943CE-D66C-973C-D01B-4C51D0610C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D7F2C36F-A06A-9A0C-96D2-E9B24219A9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CF035F-D760-429C-91A6-127792A99D6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756721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6689B4A-B98B-F36F-F1B0-CD9C2D7AEB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63616E5-4A4B-0029-F884-92FD2B77B4E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A19C9DCE-98A9-39E4-1065-C251E32370A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21F8F000-E286-41AF-EE4E-4490CE75CE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02BD8D-F21E-421A-AEC2-5EB1CD385867}" type="datetimeFigureOut">
              <a:rPr lang="ru-RU" smtClean="0"/>
              <a:t>03.11.2025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47B8CDBA-8D5E-9153-17DE-F3262F339A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2B507D93-1464-9EDE-2E2B-4A326844A0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CF035F-D760-429C-91A6-127792A99D6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136700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87DC0F9-34AF-A864-0373-BCB5378C01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E35CEE0A-1259-F711-298B-85DA754AC2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3E1F40D1-AD5A-C49F-5A5E-44E1D23B968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41437818-D1B8-09A3-14B6-0CC1584A6F5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2D246F2E-DB59-3A27-8939-7CD2D5B1BCB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C8CF448E-25F1-5E70-C055-4F0DE3C58A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02BD8D-F21E-421A-AEC2-5EB1CD385867}" type="datetimeFigureOut">
              <a:rPr lang="ru-RU" smtClean="0"/>
              <a:t>03.11.2025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4CFFE590-699A-54B9-1567-EA1E423FD4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56E07C7A-7E86-7ECB-B986-1C6BAFA6CB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CF035F-D760-429C-91A6-127792A99D6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819266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4B0D0DE-3302-688E-BA40-D80AC90F3E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0A53929A-1A63-5DC3-0B52-AEF68822B8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02BD8D-F21E-421A-AEC2-5EB1CD385867}" type="datetimeFigureOut">
              <a:rPr lang="ru-RU" smtClean="0"/>
              <a:t>03.11.2025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251796F1-5046-7B9A-ECEB-37595C4AAB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98EFB773-0DF8-AF0F-629C-C217A2AA40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CF035F-D760-429C-91A6-127792A99D6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289868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4D57DE53-60B0-73D0-637B-485C96D158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02BD8D-F21E-421A-AEC2-5EB1CD385867}" type="datetimeFigureOut">
              <a:rPr lang="ru-RU" smtClean="0"/>
              <a:t>03.11.2025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B7B167A6-1CEE-71F6-3D20-878543CF02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3170EC1F-F68E-E268-C8AC-2E75A7768D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CF035F-D760-429C-91A6-127792A99D6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525877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0BCFBDD-71A0-2B7A-C01C-33FB8A9853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711E46C-CDC4-79F6-542D-D60AFEA92F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4C99C591-593C-CD95-F0A0-63728E3E012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DC3BC622-C148-1161-78FF-E3F803BA61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02BD8D-F21E-421A-AEC2-5EB1CD385867}" type="datetimeFigureOut">
              <a:rPr lang="ru-RU" smtClean="0"/>
              <a:t>03.11.2025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D1EDAF84-1F23-B8F1-60C0-D6E3CD33D2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2EF94EBD-63BD-0375-58BD-B42E79898F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CF035F-D760-429C-91A6-127792A99D6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87935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1D0485B-7B1F-0408-876D-DF4A385EAD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FAAB4D05-E05E-2B66-13BF-5A4C0D6E3D8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F0B5E37B-AD86-EDBF-8EC2-BD7F992878E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87F544C1-502D-EAA1-0410-9AB4BDF0E5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02BD8D-F21E-421A-AEC2-5EB1CD385867}" type="datetimeFigureOut">
              <a:rPr lang="ru-RU" smtClean="0"/>
              <a:t>03.11.2025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73D5D16A-ACD5-2605-2065-133E4E294F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40B372AD-EA8F-EBBB-CF97-32449CAC78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CF035F-D760-429C-91A6-127792A99D6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602620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683CCC2-5EAC-4067-D672-4B5ECCD96F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19D16BE9-115F-F136-A2F9-606F1B5215E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F3B61D21-CBB4-4E39-83A7-8C20D5E2D4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02BD8D-F21E-421A-AEC2-5EB1CD385867}" type="datetimeFigureOut">
              <a:rPr lang="ru-RU" smtClean="0"/>
              <a:t>03.11.2025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91157689-AC28-F046-AA3A-EBA21F42E9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87DD2114-C387-D0A2-AF96-AF9D48D9CD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CF035F-D760-429C-91A6-127792A99D6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256655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9BC24239-0A3D-C157-0553-C25E73E9F39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7EF39E92-BA79-484A-B5D4-0EE462F2BCD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0073F498-298A-841C-26E7-731ADE2D68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02BD8D-F21E-421A-AEC2-5EB1CD385867}" type="datetimeFigureOut">
              <a:rPr lang="ru-RU" smtClean="0"/>
              <a:t>03.11.2025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65A15ED4-F912-2F92-EF48-FB7A19411F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F0046419-7F7C-04AC-11A3-D44DD81EC6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CF035F-D760-429C-91A6-127792A99D6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650699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2436727-0176-D9D8-C026-37A6EB761A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52139270-ADB4-7FDE-9C62-5097C0C22FE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ABF8E102-A5D4-7DF7-74FF-B02E9B2F244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202BD8D-F21E-421A-AEC2-5EB1CD385867}" type="datetimeFigureOut">
              <a:rPr lang="ru-RU" smtClean="0"/>
              <a:t>03.11.2025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F4ACE58F-91DA-0D90-1CF8-32F63C50E19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FB8A0404-6C77-74A4-0168-A7670C754E4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ACF035F-D760-429C-91A6-127792A99D6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372607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pr-mex.github.io/vanessa-automation/dev/" TargetMode="Externa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C375282-0275-7F3C-F3BC-67A95B67F02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3194994"/>
          </a:xfrm>
        </p:spPr>
        <p:txBody>
          <a:bodyPr>
            <a:normAutofit fontScale="90000"/>
          </a:bodyPr>
          <a:lstStyle/>
          <a:p>
            <a:r>
              <a:rPr lang="ru-RU" b="1" dirty="0"/>
              <a:t>Инструкция по запуску сценариев автоматизированного тестирования</a:t>
            </a:r>
          </a:p>
        </p:txBody>
      </p:sp>
    </p:spTree>
    <p:extLst>
      <p:ext uri="{BB962C8B-B14F-4D97-AF65-F5344CB8AC3E}">
        <p14:creationId xmlns:p14="http://schemas.microsoft.com/office/powerpoint/2010/main" val="31328251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5FEEEAA-2872-A715-2529-CAEE92FA26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4091" y="365125"/>
            <a:ext cx="11609408" cy="711321"/>
          </a:xfrm>
        </p:spPr>
        <p:txBody>
          <a:bodyPr>
            <a:normAutofit/>
          </a:bodyPr>
          <a:lstStyle/>
          <a:p>
            <a:pPr algn="ctr"/>
            <a:r>
              <a:rPr lang="ru-RU" sz="3600" b="1" u="sng" dirty="0"/>
              <a:t>Подготовка перед запуском </a:t>
            </a:r>
            <a:r>
              <a:rPr lang="ru-RU" sz="3600" b="1" u="sng" dirty="0" err="1"/>
              <a:t>автотестов</a:t>
            </a:r>
            <a:endParaRPr lang="ru-RU" sz="3600" b="1" u="sng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61D008E-59FE-045D-5962-113F6CE070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5195" y="1342662"/>
            <a:ext cx="11609408" cy="5335929"/>
          </a:xfrm>
        </p:spPr>
        <p:txBody>
          <a:bodyPr>
            <a:normAutofit/>
          </a:bodyPr>
          <a:lstStyle/>
          <a:p>
            <a:pPr marL="514350" indent="-514350" algn="just">
              <a:buAutoNum type="arabicPeriod"/>
            </a:pPr>
            <a:r>
              <a:rPr lang="ru-RU" sz="2000" dirty="0"/>
              <a:t>Для начала понадобится сам инструмент «</a:t>
            </a:r>
            <a:r>
              <a:rPr lang="en-US" sz="2000" dirty="0"/>
              <a:t>Vanessa Automation</a:t>
            </a:r>
            <a:r>
              <a:rPr lang="ru-RU" sz="2000" dirty="0"/>
              <a:t>». Заходим на </a:t>
            </a:r>
            <a:r>
              <a:rPr lang="ru-RU" sz="2000" dirty="0" err="1"/>
              <a:t>github</a:t>
            </a:r>
            <a:r>
              <a:rPr lang="ru-RU" sz="2000" dirty="0"/>
              <a:t> </a:t>
            </a:r>
            <a:r>
              <a:rPr lang="en-US" sz="2000" dirty="0">
                <a:hlinkClick r:id="rId2"/>
              </a:rPr>
              <a:t>(https://pr-mex.github.io/vanessa-automation/dev/)</a:t>
            </a:r>
            <a:r>
              <a:rPr lang="ru-RU" sz="2000" dirty="0"/>
              <a:t> и скачиваем нужную версию файла. Архив скачайте на ПК, где вы будете запускать клиент </a:t>
            </a:r>
            <a:r>
              <a:rPr lang="ru-RU" sz="2000" b="0" i="0" dirty="0">
                <a:effectLst/>
              </a:rPr>
              <a:t>1С:Предприятие</a:t>
            </a:r>
            <a:r>
              <a:rPr lang="ru-RU" sz="2000" dirty="0"/>
              <a:t> и распакуйте его. </a:t>
            </a:r>
          </a:p>
          <a:p>
            <a:pPr marL="514350" indent="-514350" algn="just">
              <a:buAutoNum type="arabicPeriod"/>
            </a:pPr>
            <a:r>
              <a:rPr lang="ru-RU" sz="2000" dirty="0"/>
              <a:t>Создаем базу для тестирования, через которую будем запускать «</a:t>
            </a:r>
            <a:r>
              <a:rPr lang="en-US" sz="2000" dirty="0"/>
              <a:t>Vanessa Automation</a:t>
            </a:r>
            <a:r>
              <a:rPr lang="ru-RU" sz="2000" dirty="0"/>
              <a:t>» и ещё одну пустую базу в которую будет загружена конфигурация дипломного проекта.</a:t>
            </a:r>
          </a:p>
          <a:p>
            <a:pPr marL="514350" indent="-514350" algn="just">
              <a:buAutoNum type="arabicPeriod"/>
            </a:pPr>
            <a:r>
              <a:rPr lang="ru-RU" sz="2000" b="0" i="0" dirty="0">
                <a:effectLst/>
              </a:rPr>
              <a:t>Запускаем 1С:Предприятие и выбираем ранее созданную базу (п.2) далее нажимаем          «Изменить»             «Далее»           в поле дополнительные параметры запуска ввести </a:t>
            </a:r>
            <a:r>
              <a:rPr lang="en-US" sz="2000" dirty="0"/>
              <a:t>/TESTMANAGER</a:t>
            </a:r>
            <a:endParaRPr lang="ru-RU" sz="2000" b="0" i="0" dirty="0">
              <a:effectLst/>
            </a:endParaRPr>
          </a:p>
          <a:p>
            <a:pPr marL="514350" indent="-514350" algn="just">
              <a:buAutoNum type="arabicPeriod"/>
            </a:pPr>
            <a:endParaRPr lang="ru-RU" sz="2200" b="0" i="0" dirty="0">
              <a:effectLst/>
            </a:endParaRPr>
          </a:p>
          <a:p>
            <a:pPr marL="0" indent="0" algn="just">
              <a:buNone/>
            </a:pPr>
            <a:r>
              <a:rPr lang="ru-RU" sz="2200" dirty="0"/>
              <a:t>        </a:t>
            </a:r>
            <a:r>
              <a:rPr lang="ru-RU" sz="2000" dirty="0"/>
              <a:t>          </a:t>
            </a:r>
            <a:endParaRPr lang="ru-RU" sz="2200" dirty="0"/>
          </a:p>
        </p:txBody>
      </p:sp>
      <p:cxnSp>
        <p:nvCxnSpPr>
          <p:cNvPr id="7" name="Прямая со стрелкой 6">
            <a:extLst>
              <a:ext uri="{FF2B5EF4-FFF2-40B4-BE49-F238E27FC236}">
                <a16:creationId xmlns:a16="http://schemas.microsoft.com/office/drawing/2014/main" id="{65F1A9B5-A2C3-9476-5EE5-623CBF50C928}"/>
              </a:ext>
            </a:extLst>
          </p:cNvPr>
          <p:cNvCxnSpPr/>
          <p:nvPr/>
        </p:nvCxnSpPr>
        <p:spPr>
          <a:xfrm>
            <a:off x="2222339" y="3420685"/>
            <a:ext cx="578734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8" name="Прямая со стрелкой 7">
            <a:extLst>
              <a:ext uri="{FF2B5EF4-FFF2-40B4-BE49-F238E27FC236}">
                <a16:creationId xmlns:a16="http://schemas.microsoft.com/office/drawing/2014/main" id="{0EAAB495-67CC-7484-0953-8B8204290E65}"/>
              </a:ext>
            </a:extLst>
          </p:cNvPr>
          <p:cNvCxnSpPr/>
          <p:nvPr/>
        </p:nvCxnSpPr>
        <p:spPr>
          <a:xfrm>
            <a:off x="3834455" y="3429000"/>
            <a:ext cx="578734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545EB605-141D-BB0D-6F61-72F84D8E46D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1439" y="3605328"/>
            <a:ext cx="1759634" cy="3134810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8A36D761-3CAF-8D17-394A-77516588231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42299" y="3605328"/>
            <a:ext cx="2986496" cy="3134809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4" name="Рисунок 13">
            <a:extLst>
              <a:ext uri="{FF2B5EF4-FFF2-40B4-BE49-F238E27FC236}">
                <a16:creationId xmlns:a16="http://schemas.microsoft.com/office/drawing/2014/main" id="{CC2218EA-3BE3-CFF3-3CF8-039EBD0C065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70021" y="3605327"/>
            <a:ext cx="3053562" cy="3134810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48789640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89CCB7AF-D093-0C29-3CEE-354A94ACAC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4643" y="312516"/>
            <a:ext cx="11748303" cy="6331352"/>
          </a:xfrm>
        </p:spPr>
        <p:txBody>
          <a:bodyPr/>
          <a:lstStyle/>
          <a:p>
            <a:pPr marL="457200" indent="-457200" algn="just">
              <a:buFont typeface="+mj-lt"/>
              <a:buAutoNum type="arabicPeriod" startAt="4"/>
            </a:pPr>
            <a:r>
              <a:rPr lang="ru-RU" sz="2000" dirty="0"/>
              <a:t>Отключаем защиту от опасных действий: для этого заходим в папку компьютере C:\Program Files (x86)\1cv8\ , открываем файл </a:t>
            </a:r>
            <a:r>
              <a:rPr lang="ru-RU" sz="2000" dirty="0" err="1"/>
              <a:t>conf.cfg</a:t>
            </a:r>
            <a:r>
              <a:rPr lang="ru-RU" sz="2000" dirty="0"/>
              <a:t> и дописываем стройку «</a:t>
            </a:r>
            <a:r>
              <a:rPr lang="ru-RU" sz="2000" dirty="0" err="1"/>
              <a:t>DisableUnsafeActionProtection</a:t>
            </a:r>
            <a:r>
              <a:rPr lang="ru-RU" sz="2000" dirty="0"/>
              <a:t>=.*»</a:t>
            </a:r>
          </a:p>
          <a:p>
            <a:pPr marL="457200" indent="-457200" algn="just">
              <a:buFont typeface="+mj-lt"/>
              <a:buAutoNum type="arabicPeriod" startAt="4"/>
            </a:pPr>
            <a:endParaRPr lang="ru-RU" sz="2000" dirty="0"/>
          </a:p>
          <a:p>
            <a:pPr marL="457200" indent="-457200" algn="just">
              <a:buFont typeface="+mj-lt"/>
              <a:buAutoNum type="arabicPeriod" startAt="4"/>
            </a:pPr>
            <a:endParaRPr lang="ru-RU" sz="2000" dirty="0"/>
          </a:p>
          <a:p>
            <a:pPr marL="457200" indent="-457200" algn="just">
              <a:buFont typeface="+mj-lt"/>
              <a:buAutoNum type="arabicPeriod" startAt="4"/>
            </a:pPr>
            <a:endParaRPr lang="ru-RU" sz="2000" dirty="0"/>
          </a:p>
          <a:p>
            <a:pPr marL="457200" indent="-457200" algn="just">
              <a:buFont typeface="+mj-lt"/>
              <a:buAutoNum type="arabicPeriod" startAt="4"/>
            </a:pPr>
            <a:endParaRPr lang="ru-RU" sz="2000" dirty="0"/>
          </a:p>
          <a:p>
            <a:pPr marL="457200" indent="-457200" algn="just">
              <a:buFont typeface="+mj-lt"/>
              <a:buAutoNum type="arabicPeriod" startAt="4"/>
            </a:pPr>
            <a:endParaRPr lang="ru-RU" sz="2000" dirty="0"/>
          </a:p>
          <a:p>
            <a:pPr marL="457200" indent="-457200" algn="just">
              <a:buFont typeface="+mj-lt"/>
              <a:buAutoNum type="arabicPeriod" startAt="4"/>
            </a:pPr>
            <a:r>
              <a:rPr lang="ru-RU" sz="2000" dirty="0"/>
              <a:t>После всех выше описанных манипуляций запускаем созданную базу (п.2) в режиме </a:t>
            </a:r>
            <a:r>
              <a:rPr lang="ru-RU" sz="2000" b="0" i="0" dirty="0">
                <a:effectLst/>
              </a:rPr>
              <a:t>1С:Предприятие.</a:t>
            </a:r>
          </a:p>
          <a:p>
            <a:pPr marL="0" indent="0" algn="just">
              <a:buNone/>
            </a:pPr>
            <a:r>
              <a:rPr lang="ru-RU" sz="2000" dirty="0"/>
              <a:t>        Нажать                    «Файл»             «Открыть» </a:t>
            </a:r>
            <a:endParaRPr lang="ru-RU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58AD1305-46FB-7DAA-EE19-1A6D041D72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7389" y="988188"/>
            <a:ext cx="4365391" cy="1637022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AD58C9C8-C20C-B6D6-2056-4A6FCD48A46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9881"/>
          <a:stretch>
            <a:fillRect/>
          </a:stretch>
        </p:blipFill>
        <p:spPr>
          <a:xfrm>
            <a:off x="947389" y="3858647"/>
            <a:ext cx="6588937" cy="2686837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3C23C762-BBD2-1A71-5B00-B25D0F51458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86963" y="3396221"/>
            <a:ext cx="323895" cy="314369"/>
          </a:xfrm>
          <a:prstGeom prst="rect">
            <a:avLst/>
          </a:prstGeom>
          <a:ln>
            <a:solidFill>
              <a:schemeClr val="tx1"/>
            </a:solidFill>
          </a:ln>
        </p:spPr>
      </p:pic>
      <p:cxnSp>
        <p:nvCxnSpPr>
          <p:cNvPr id="10" name="Прямая со стрелкой 9">
            <a:extLst>
              <a:ext uri="{FF2B5EF4-FFF2-40B4-BE49-F238E27FC236}">
                <a16:creationId xmlns:a16="http://schemas.microsoft.com/office/drawing/2014/main" id="{2DAC007E-2BC5-494B-6BF4-2684EDEE7113}"/>
              </a:ext>
            </a:extLst>
          </p:cNvPr>
          <p:cNvCxnSpPr/>
          <p:nvPr/>
        </p:nvCxnSpPr>
        <p:spPr>
          <a:xfrm>
            <a:off x="2101010" y="3584891"/>
            <a:ext cx="578734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1" name="Прямая со стрелкой 10">
            <a:extLst>
              <a:ext uri="{FF2B5EF4-FFF2-40B4-BE49-F238E27FC236}">
                <a16:creationId xmlns:a16="http://schemas.microsoft.com/office/drawing/2014/main" id="{402598C4-9572-0DF8-B09E-E09204AA5437}"/>
              </a:ext>
            </a:extLst>
          </p:cNvPr>
          <p:cNvCxnSpPr/>
          <p:nvPr/>
        </p:nvCxnSpPr>
        <p:spPr>
          <a:xfrm>
            <a:off x="3639016" y="3584891"/>
            <a:ext cx="578734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7465518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F9557966-2A42-0DDA-E5DB-9C246F2BE0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0455" y="244699"/>
            <a:ext cx="11668259" cy="6465194"/>
          </a:xfrm>
        </p:spPr>
        <p:txBody>
          <a:bodyPr>
            <a:normAutofit/>
          </a:bodyPr>
          <a:lstStyle/>
          <a:p>
            <a:pPr marL="457200" indent="-457200" algn="l">
              <a:buFont typeface="+mj-lt"/>
              <a:buAutoNum type="arabicPeriod" startAt="6"/>
            </a:pPr>
            <a:r>
              <a:rPr lang="ru-RU" sz="2000" dirty="0"/>
              <a:t>В открывшемся окне переходим в место куда ранее был разархивирован файл «</a:t>
            </a:r>
            <a:r>
              <a:rPr lang="en-US" sz="2000" dirty="0"/>
              <a:t>Vanessa Automation</a:t>
            </a:r>
            <a:r>
              <a:rPr lang="ru-RU" sz="2000" dirty="0"/>
              <a:t>» (п.1), выбираем файл </a:t>
            </a:r>
            <a:r>
              <a:rPr lang="en-US" sz="2000" b="0" i="0" u="none" strike="noStrike" baseline="0" dirty="0">
                <a:solidFill>
                  <a:srgbClr val="000000"/>
                </a:solidFill>
              </a:rPr>
              <a:t>Vanessa-</a:t>
            </a:r>
            <a:r>
              <a:rPr lang="en-US" sz="2000" b="0" i="0" u="none" strike="noStrike" baseline="0" dirty="0" err="1">
                <a:solidFill>
                  <a:srgbClr val="000000"/>
                </a:solidFill>
              </a:rPr>
              <a:t>Automation.epf</a:t>
            </a:r>
            <a:r>
              <a:rPr lang="en-US" sz="2000" b="0" i="0" u="none" strike="noStrike" baseline="0" dirty="0">
                <a:solidFill>
                  <a:srgbClr val="000000"/>
                </a:solidFill>
              </a:rPr>
              <a:t> </a:t>
            </a:r>
            <a:r>
              <a:rPr lang="ru-RU" sz="2000" b="0" i="0" u="none" strike="noStrike" baseline="0" dirty="0">
                <a:solidFill>
                  <a:srgbClr val="000000"/>
                </a:solidFill>
              </a:rPr>
              <a:t>и нажимаем «открыть». </a:t>
            </a:r>
          </a:p>
          <a:p>
            <a:pPr marL="457200" indent="-457200" algn="l">
              <a:buFont typeface="+mj-lt"/>
              <a:buAutoNum type="arabicPeriod" startAt="6"/>
            </a:pPr>
            <a:endParaRPr lang="ru-RU" sz="2000" b="0" i="0" u="none" strike="noStrike" baseline="0" dirty="0">
              <a:solidFill>
                <a:srgbClr val="000000"/>
              </a:solidFill>
            </a:endParaRPr>
          </a:p>
          <a:p>
            <a:pPr marL="514350" indent="-514350" algn="just">
              <a:buFont typeface="+mj-lt"/>
              <a:buAutoNum type="arabicPeriod" startAt="6"/>
            </a:pPr>
            <a:endParaRPr lang="ru-RU" sz="2000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0B526429-7D4E-C593-3D93-1C55B4614B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8292" y="952339"/>
            <a:ext cx="4882806" cy="4040688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11028780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A0E362D-0926-BDC2-5601-9437150B9E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71247"/>
          </a:xfrm>
        </p:spPr>
        <p:txBody>
          <a:bodyPr/>
          <a:lstStyle/>
          <a:p>
            <a:pPr algn="ctr"/>
            <a:r>
              <a:rPr lang="ru-RU" b="1" u="sng" dirty="0"/>
              <a:t>Запуск сценариев в «</a:t>
            </a:r>
            <a:r>
              <a:rPr lang="en-US" b="1" u="sng" dirty="0"/>
              <a:t>Vanessa Automation</a:t>
            </a:r>
            <a:r>
              <a:rPr lang="ru-RU" b="1" u="sng" dirty="0"/>
              <a:t>»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42441E8-E7C8-6E07-B8AC-2D52545823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4699" y="1352282"/>
            <a:ext cx="11719774" cy="5306095"/>
          </a:xfrm>
        </p:spPr>
        <p:txBody>
          <a:bodyPr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ru-RU" sz="2000" dirty="0"/>
              <a:t>В открывшемся окне переходим во вкладку «Клиенты тестирования»</a:t>
            </a:r>
          </a:p>
          <a:p>
            <a:pPr marL="514350" indent="-514350">
              <a:buFont typeface="+mj-lt"/>
              <a:buAutoNum type="arabicPeriod"/>
            </a:pPr>
            <a:r>
              <a:rPr lang="ru-RU" sz="2000" dirty="0"/>
              <a:t>Нажать «Добавить» далее заполняем поля: имя (имя базы в которую загружена конфигурация дипломного проекта), тип клиента (тонкий клиент), путь к инфо базе (скопировать из окна запуска 1С), доп. параметры /</a:t>
            </a:r>
            <a:r>
              <a:rPr lang="en-US" sz="2000" dirty="0"/>
              <a:t>N</a:t>
            </a:r>
            <a:r>
              <a:rPr lang="ru-RU" sz="2000" dirty="0"/>
              <a:t>""</a:t>
            </a:r>
            <a:r>
              <a:rPr lang="en-US" sz="2000" dirty="0"/>
              <a:t>(</a:t>
            </a:r>
            <a:r>
              <a:rPr lang="ru-RU" sz="2000" dirty="0"/>
              <a:t>имя пользователя</a:t>
            </a:r>
            <a:r>
              <a:rPr lang="en-US" sz="2000" dirty="0"/>
              <a:t>)</a:t>
            </a:r>
            <a:r>
              <a:rPr lang="ru-RU" sz="2000" dirty="0"/>
              <a:t> </a:t>
            </a:r>
          </a:p>
          <a:p>
            <a:pPr marL="514350" indent="-514350">
              <a:buFont typeface="+mj-lt"/>
              <a:buAutoNum type="arabicPeriod"/>
            </a:pPr>
            <a:endParaRPr lang="ru-RU" sz="2000" dirty="0"/>
          </a:p>
          <a:p>
            <a:pPr marL="514350" indent="-514350">
              <a:buFont typeface="+mj-lt"/>
              <a:buAutoNum type="arabicPeriod"/>
            </a:pPr>
            <a:endParaRPr lang="ru-RU" sz="2000" dirty="0"/>
          </a:p>
          <a:p>
            <a:pPr marL="514350" indent="-514350">
              <a:buFont typeface="+mj-lt"/>
              <a:buAutoNum type="arabicPeriod"/>
            </a:pPr>
            <a:endParaRPr lang="ru-RU" sz="2000" dirty="0"/>
          </a:p>
          <a:p>
            <a:pPr marL="514350" indent="-514350">
              <a:buFont typeface="+mj-lt"/>
              <a:buAutoNum type="arabicPeriod"/>
            </a:pPr>
            <a:endParaRPr lang="ru-RU" sz="2000" dirty="0"/>
          </a:p>
          <a:p>
            <a:pPr marL="514350" indent="-514350">
              <a:buFont typeface="+mj-lt"/>
              <a:buAutoNum type="arabicPeriod"/>
            </a:pPr>
            <a:endParaRPr lang="ru-RU" sz="2000" dirty="0"/>
          </a:p>
          <a:p>
            <a:pPr marL="514350" indent="-514350">
              <a:buFont typeface="+mj-lt"/>
              <a:buAutoNum type="arabicPeriod"/>
            </a:pPr>
            <a:endParaRPr lang="ru-RU" sz="2000" dirty="0"/>
          </a:p>
          <a:p>
            <a:pPr marL="514350" indent="-514350">
              <a:buFont typeface="+mj-lt"/>
              <a:buAutoNum type="arabicPeriod"/>
            </a:pPr>
            <a:endParaRPr lang="ru-RU" sz="2000" dirty="0"/>
          </a:p>
          <a:p>
            <a:pPr marL="514350" indent="-514350">
              <a:buFont typeface="+mj-lt"/>
              <a:buAutoNum type="arabicPeriod"/>
            </a:pPr>
            <a:endParaRPr lang="ru-RU" sz="2000" dirty="0"/>
          </a:p>
          <a:p>
            <a:pPr marL="514350" indent="-514350">
              <a:buFont typeface="+mj-lt"/>
              <a:buAutoNum type="arabicPeriod"/>
            </a:pPr>
            <a:endParaRPr lang="ru-RU" sz="2000" dirty="0"/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0B948CAC-4DDB-A68A-E290-727B0D49409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51140"/>
          <a:stretch>
            <a:fillRect/>
          </a:stretch>
        </p:blipFill>
        <p:spPr>
          <a:xfrm>
            <a:off x="3001127" y="2991787"/>
            <a:ext cx="5403280" cy="2860772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6936A381-45A7-8C88-ADCE-B139B7176BF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83276" b="9294"/>
          <a:stretch>
            <a:fillRect/>
          </a:stretch>
        </p:blipFill>
        <p:spPr>
          <a:xfrm>
            <a:off x="815146" y="2991788"/>
            <a:ext cx="2039006" cy="2860771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790069ED-84E2-8330-65DD-B7CE77F2FE2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6469"/>
          <a:stretch>
            <a:fillRect/>
          </a:stretch>
        </p:blipFill>
        <p:spPr>
          <a:xfrm>
            <a:off x="8571710" y="2991787"/>
            <a:ext cx="3225460" cy="1533739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46646853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112A3DA1-2D61-7321-D373-4E6622BA85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9185" y="236483"/>
            <a:ext cx="11792607" cy="6274676"/>
          </a:xfrm>
        </p:spPr>
        <p:txBody>
          <a:bodyPr>
            <a:normAutofit/>
          </a:bodyPr>
          <a:lstStyle/>
          <a:p>
            <a:pPr marL="457200" indent="-457200" algn="l">
              <a:buFont typeface="+mj-lt"/>
              <a:buAutoNum type="arabicPeriod" startAt="3"/>
            </a:pPr>
            <a:r>
              <a:rPr lang="ru-RU" sz="2000" dirty="0"/>
              <a:t>Выбираем созданный клиент и нажимаем </a:t>
            </a:r>
            <a:r>
              <a:rPr lang="ru-RU" sz="2000" b="0" i="0" u="none" strike="noStrike" baseline="0" dirty="0">
                <a:solidFill>
                  <a:srgbClr val="000000"/>
                </a:solidFill>
              </a:rPr>
              <a:t>«Подключить </a:t>
            </a:r>
            <a:r>
              <a:rPr lang="en-US" sz="2000" b="0" i="0" u="none" strike="noStrike" baseline="0" dirty="0">
                <a:solidFill>
                  <a:srgbClr val="000000"/>
                </a:solidFill>
              </a:rPr>
              <a:t>Test Client</a:t>
            </a:r>
            <a:r>
              <a:rPr lang="ru-RU" sz="2000" b="0" i="0" u="none" strike="noStrike" baseline="0" dirty="0">
                <a:solidFill>
                  <a:srgbClr val="000000"/>
                </a:solidFill>
              </a:rPr>
              <a:t> (</a:t>
            </a:r>
            <a:r>
              <a:rPr lang="en-US" sz="2000" b="0" i="0" u="none" strike="noStrike" baseline="0" dirty="0">
                <a:solidFill>
                  <a:srgbClr val="000000"/>
                </a:solidFill>
              </a:rPr>
              <a:t>Ctrl + T</a:t>
            </a:r>
            <a:r>
              <a:rPr lang="ru-RU" sz="2000" b="0" i="0" u="none" strike="noStrike" baseline="0" dirty="0">
                <a:solidFill>
                  <a:srgbClr val="000000"/>
                </a:solidFill>
              </a:rPr>
              <a:t>)</a:t>
            </a:r>
            <a:r>
              <a:rPr lang="en-US" sz="2000" b="0" i="0" u="none" strike="noStrike" baseline="0" dirty="0">
                <a:solidFill>
                  <a:srgbClr val="000000"/>
                </a:solidFill>
              </a:rPr>
              <a:t>»</a:t>
            </a:r>
            <a:r>
              <a:rPr lang="ru-RU" sz="2000" b="0" i="0" u="none" strike="noStrike" baseline="0" dirty="0">
                <a:solidFill>
                  <a:srgbClr val="000000"/>
                </a:solidFill>
              </a:rPr>
              <a:t>. Откроется клиент тестирования – тестовая база.</a:t>
            </a:r>
          </a:p>
          <a:p>
            <a:pPr marL="457200" indent="-457200" algn="l">
              <a:buFont typeface="+mj-lt"/>
              <a:buAutoNum type="arabicPeriod" startAt="3"/>
            </a:pPr>
            <a:endParaRPr lang="ru-RU" sz="2000" dirty="0">
              <a:solidFill>
                <a:srgbClr val="000000"/>
              </a:solidFill>
            </a:endParaRPr>
          </a:p>
          <a:p>
            <a:pPr marL="457200" indent="-457200" algn="l">
              <a:buFont typeface="+mj-lt"/>
              <a:buAutoNum type="arabicPeriod" startAt="3"/>
            </a:pPr>
            <a:endParaRPr lang="ru-RU" sz="2000" b="0" i="0" u="none" strike="noStrike" baseline="0" dirty="0">
              <a:solidFill>
                <a:srgbClr val="000000"/>
              </a:solidFill>
            </a:endParaRPr>
          </a:p>
          <a:p>
            <a:pPr marL="457200" indent="-457200" algn="l">
              <a:buFont typeface="+mj-lt"/>
              <a:buAutoNum type="arabicPeriod" startAt="3"/>
            </a:pPr>
            <a:endParaRPr lang="ru-RU" sz="2000" dirty="0">
              <a:solidFill>
                <a:srgbClr val="000000"/>
              </a:solidFill>
            </a:endParaRPr>
          </a:p>
          <a:p>
            <a:pPr marL="457200" indent="-457200" algn="l">
              <a:buFont typeface="+mj-lt"/>
              <a:buAutoNum type="arabicPeriod" startAt="3"/>
            </a:pPr>
            <a:endParaRPr lang="ru-RU" sz="2000" b="0" i="0" u="none" strike="noStrike" baseline="0" dirty="0">
              <a:solidFill>
                <a:srgbClr val="000000"/>
              </a:solidFill>
            </a:endParaRPr>
          </a:p>
          <a:p>
            <a:pPr marL="457200" indent="-457200" algn="l">
              <a:buFont typeface="+mj-lt"/>
              <a:buAutoNum type="arabicPeriod" startAt="3"/>
            </a:pPr>
            <a:endParaRPr lang="ru-RU" sz="2000" dirty="0">
              <a:solidFill>
                <a:srgbClr val="000000"/>
              </a:solidFill>
            </a:endParaRPr>
          </a:p>
          <a:p>
            <a:pPr marL="457200" indent="-457200" algn="l">
              <a:buFont typeface="+mj-lt"/>
              <a:buAutoNum type="arabicPeriod" startAt="3"/>
            </a:pPr>
            <a:endParaRPr lang="ru-RU" sz="2000" b="0" i="0" u="none" strike="noStrike" baseline="0" dirty="0">
              <a:solidFill>
                <a:srgbClr val="000000"/>
              </a:solidFill>
            </a:endParaRPr>
          </a:p>
          <a:p>
            <a:pPr marL="457200" indent="-457200" algn="l">
              <a:buFont typeface="+mj-lt"/>
              <a:buAutoNum type="arabicPeriod" startAt="3"/>
            </a:pPr>
            <a:endParaRPr lang="ru-RU" sz="2000" b="0" i="0" u="none" strike="noStrike" baseline="0" dirty="0">
              <a:solidFill>
                <a:srgbClr val="000000"/>
              </a:solidFill>
            </a:endParaRPr>
          </a:p>
          <a:p>
            <a:pPr marL="457200" indent="-457200" algn="l">
              <a:buFont typeface="+mj-lt"/>
              <a:buAutoNum type="arabicPeriod" startAt="3"/>
            </a:pPr>
            <a:r>
              <a:rPr lang="ru-RU" sz="2000" dirty="0">
                <a:solidFill>
                  <a:srgbClr val="000000"/>
                </a:solidFill>
              </a:rPr>
              <a:t>Переходим на вкладку «Запуск сценариев». Нажимаем кнопку «Загрузить фичи» далее «Загрузить один файл».</a:t>
            </a:r>
          </a:p>
          <a:p>
            <a:pPr marL="457200" indent="-457200" algn="l">
              <a:buFont typeface="+mj-lt"/>
              <a:buAutoNum type="arabicPeriod" startAt="3"/>
            </a:pPr>
            <a:endParaRPr lang="ru-RU" sz="2000" b="0" i="0" u="none" strike="noStrike" baseline="0" dirty="0">
              <a:solidFill>
                <a:srgbClr val="000000"/>
              </a:solidFill>
            </a:endParaRPr>
          </a:p>
          <a:p>
            <a:pPr marL="457200" indent="-457200" algn="l">
              <a:buFont typeface="+mj-lt"/>
              <a:buAutoNum type="arabicPeriod" startAt="3"/>
            </a:pPr>
            <a:endParaRPr lang="en-US" sz="2000" b="0" i="0" u="none" strike="noStrike" baseline="0" dirty="0">
              <a:solidFill>
                <a:srgbClr val="000000"/>
              </a:solidFill>
            </a:endParaRPr>
          </a:p>
          <a:p>
            <a:pPr marL="514350" indent="-514350">
              <a:buFont typeface="+mj-lt"/>
              <a:buAutoNum type="arabicPeriod" startAt="3"/>
            </a:pPr>
            <a:endParaRPr lang="ru-RU" sz="2000" dirty="0"/>
          </a:p>
          <a:p>
            <a:pPr marL="514350" indent="-514350">
              <a:buFont typeface="+mj-lt"/>
              <a:buAutoNum type="arabicPeriod" startAt="3"/>
            </a:pPr>
            <a:endParaRPr lang="ru-RU" sz="2000" dirty="0"/>
          </a:p>
          <a:p>
            <a:pPr marL="514350" indent="-514350">
              <a:buFont typeface="+mj-lt"/>
              <a:buAutoNum type="arabicPeriod" startAt="3"/>
            </a:pPr>
            <a:r>
              <a:rPr lang="ru-RU" sz="2000" dirty="0"/>
              <a:t>В открывшемся окне выбираем файл со сценарием тестирования.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09C8C6E3-780F-A796-8233-94D708682B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7157" y="890122"/>
            <a:ext cx="10324472" cy="2697892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FE1D6F33-5E52-629E-38CE-EA9B93EED46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7157" y="4451071"/>
            <a:ext cx="10324472" cy="1337758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9955741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C50CEBAD-2BCE-78A4-230A-37B314164A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4951" y="331076"/>
            <a:ext cx="11729545" cy="6243145"/>
          </a:xfrm>
        </p:spPr>
        <p:txBody>
          <a:bodyPr>
            <a:normAutofit/>
          </a:bodyPr>
          <a:lstStyle/>
          <a:p>
            <a:pPr marL="514350" indent="-514350">
              <a:buFont typeface="+mj-lt"/>
              <a:buAutoNum type="arabicPeriod" startAt="6"/>
            </a:pPr>
            <a:r>
              <a:rPr lang="ru-RU" sz="2000" dirty="0"/>
              <a:t>Нажимаем «Выполнить».</a:t>
            </a:r>
          </a:p>
          <a:p>
            <a:pPr marL="514350" indent="-514350">
              <a:buFont typeface="+mj-lt"/>
              <a:buAutoNum type="arabicPeriod" startAt="6"/>
            </a:pPr>
            <a:endParaRPr lang="ru-RU" sz="2000" dirty="0"/>
          </a:p>
          <a:p>
            <a:pPr marL="514350" indent="-514350">
              <a:buFont typeface="+mj-lt"/>
              <a:buAutoNum type="arabicPeriod" startAt="6"/>
            </a:pPr>
            <a:endParaRPr lang="ru-RU" sz="2000" dirty="0"/>
          </a:p>
          <a:p>
            <a:pPr marL="514350" indent="-514350">
              <a:buFont typeface="+mj-lt"/>
              <a:buAutoNum type="arabicPeriod" startAt="6"/>
            </a:pPr>
            <a:endParaRPr lang="ru-RU" sz="2000" dirty="0"/>
          </a:p>
          <a:p>
            <a:pPr marL="514350" indent="-514350">
              <a:buFont typeface="+mj-lt"/>
              <a:buAutoNum type="arabicPeriod" startAt="6"/>
            </a:pPr>
            <a:endParaRPr lang="ru-RU" sz="2000" dirty="0"/>
          </a:p>
          <a:p>
            <a:pPr marL="514350" indent="-514350">
              <a:buFont typeface="+mj-lt"/>
              <a:buAutoNum type="arabicPeriod" startAt="6"/>
            </a:pPr>
            <a:r>
              <a:rPr lang="ru-RU" sz="2000" dirty="0"/>
              <a:t>После удачного выполнения </a:t>
            </a:r>
            <a:r>
              <a:rPr lang="ru-RU" sz="2000" dirty="0" err="1"/>
              <a:t>автотестов</a:t>
            </a:r>
            <a:r>
              <a:rPr lang="ru-RU" sz="2000" dirty="0"/>
              <a:t> появится сообщение «Выполнение сценариев закончено. Ошибок не было.»</a:t>
            </a:r>
          </a:p>
          <a:p>
            <a:pPr marL="514350" indent="-514350">
              <a:buFont typeface="+mj-lt"/>
              <a:buAutoNum type="arabicPeriod" startAt="6"/>
            </a:pPr>
            <a:endParaRPr lang="ru-RU" sz="2000" dirty="0"/>
          </a:p>
          <a:p>
            <a:pPr marL="514350" indent="-514350">
              <a:buFont typeface="+mj-lt"/>
              <a:buAutoNum type="arabicPeriod" startAt="6"/>
            </a:pPr>
            <a:endParaRPr lang="ru-RU" sz="2000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CEBBD8F3-1B04-C307-EC2A-6F01681412C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" b="63790"/>
          <a:stretch>
            <a:fillRect/>
          </a:stretch>
        </p:blipFill>
        <p:spPr>
          <a:xfrm>
            <a:off x="732325" y="739688"/>
            <a:ext cx="6344535" cy="1593610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21083B12-3A03-549F-1381-21D49BFA7D6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2325" y="2939357"/>
            <a:ext cx="8126353" cy="3634864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454592701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100</TotalTime>
  <Words>338</Words>
  <Application>Microsoft Office PowerPoint</Application>
  <PresentationFormat>Широкоэкранный</PresentationFormat>
  <Paragraphs>46</Paragraphs>
  <Slides>7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7</vt:i4>
      </vt:variant>
    </vt:vector>
  </HeadingPairs>
  <TitlesOfParts>
    <vt:vector size="11" baseType="lpstr">
      <vt:lpstr>Arial</vt:lpstr>
      <vt:lpstr>Calibri</vt:lpstr>
      <vt:lpstr>Calibri Light</vt:lpstr>
      <vt:lpstr>Тема Office</vt:lpstr>
      <vt:lpstr>Инструкция по запуску сценариев автоматизированного тестирования</vt:lpstr>
      <vt:lpstr>Подготовка перед запуском автотестов</vt:lpstr>
      <vt:lpstr>Презентация PowerPoint</vt:lpstr>
      <vt:lpstr>Презентация PowerPoint</vt:lpstr>
      <vt:lpstr>Запуск сценариев в «Vanessa Automation»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Оксана Бобровникова</dc:creator>
  <cp:lastModifiedBy>Оксана Бобровникова</cp:lastModifiedBy>
  <cp:revision>6</cp:revision>
  <dcterms:created xsi:type="dcterms:W3CDTF">2025-11-03T18:32:03Z</dcterms:created>
  <dcterms:modified xsi:type="dcterms:W3CDTF">2025-11-03T20:12:32Z</dcterms:modified>
</cp:coreProperties>
</file>